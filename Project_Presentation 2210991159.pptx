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0" r:id="rId14"/>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f0e30974b_0_65: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3df0e30974b_0_6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7"/>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9"/>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0"/>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1"/>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1"/>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2"/>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2"/>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3"/>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3"/>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pic>
        <p:nvPicPr>
          <p:cNvPr id="13" name="Google Shape;13;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14" name="Google Shape;14;p1"/>
          <p:cNvGrpSpPr/>
          <p:nvPr/>
        </p:nvGrpSpPr>
        <p:grpSpPr>
          <a:xfrm>
            <a:off x="6146640" y="0"/>
            <a:ext cx="2997000" cy="875880"/>
            <a:chOff x="6146640" y="0"/>
            <a:chExt cx="2997000" cy="875880"/>
          </a:xfrm>
        </p:grpSpPr>
        <p:sp>
          <p:nvSpPr>
            <p:cNvPr id="15" name="Google Shape;15;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1"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19" name="Google Shape;19;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20" name="Google Shape;20;p1"/>
          <p:cNvGrpSpPr/>
          <p:nvPr/>
        </p:nvGrpSpPr>
        <p:grpSpPr>
          <a:xfrm>
            <a:off x="6146640" y="0"/>
            <a:ext cx="2997000" cy="875880"/>
            <a:chOff x="6146640" y="0"/>
            <a:chExt cx="2997000" cy="875880"/>
          </a:xfrm>
        </p:grpSpPr>
        <p:sp>
          <p:nvSpPr>
            <p:cNvPr id="21" name="Google Shape;21;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Google Shape;24;p1"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25" name="Google Shape;25;p1"/>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1"/>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1"/>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p:nvPr/>
        </p:nvSpPr>
        <p:spPr>
          <a:xfrm>
            <a:off x="0" y="840631"/>
            <a:ext cx="9144000" cy="537728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b="1"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1700" b="1" i="0" u="none" strike="noStrike" cap="none" dirty="0">
                <a:solidFill>
                  <a:schemeClr val="dk1"/>
                </a:solidFill>
                <a:latin typeface="Times New Roman"/>
                <a:ea typeface="Times New Roman"/>
                <a:cs typeface="Times New Roman"/>
                <a:sym typeface="Times New Roman"/>
              </a:rPr>
              <a:t>Project Presentation of CO-OP Project at Industry (Module-2) (22CS421)</a:t>
            </a:r>
            <a:endParaRPr sz="1700" dirty="0"/>
          </a:p>
          <a:p>
            <a:pPr marL="0" marR="0" lvl="0" indent="0" algn="ctr" rtl="0">
              <a:lnSpc>
                <a:spcPct val="100000"/>
              </a:lnSpc>
              <a:spcBef>
                <a:spcPts val="300"/>
              </a:spcBef>
              <a:spcAft>
                <a:spcPts val="0"/>
              </a:spcAft>
              <a:buNone/>
            </a:pPr>
            <a:r>
              <a:rPr lang="en-US" sz="1700" b="0" i="0" u="none" strike="noStrike" cap="none" dirty="0">
                <a:solidFill>
                  <a:schemeClr val="dk1"/>
                </a:solidFill>
                <a:latin typeface="Times New Roman"/>
                <a:ea typeface="Times New Roman"/>
                <a:cs typeface="Times New Roman"/>
                <a:sym typeface="Times New Roman"/>
              </a:rPr>
              <a:t>On</a:t>
            </a:r>
            <a:endParaRPr sz="1700" dirty="0"/>
          </a:p>
          <a:p>
            <a:pPr lvl="0" algn="ctr">
              <a:spcBef>
                <a:spcPts val="300"/>
              </a:spcBef>
            </a:pPr>
            <a:r>
              <a:rPr lang="en-IN" sz="3200" b="1" dirty="0">
                <a:latin typeface="Times New Roman" panose="02020603050405020304" pitchFamily="18" charset="0"/>
                <a:cs typeface="Times New Roman" panose="02020603050405020304" pitchFamily="18" charset="0"/>
              </a:rPr>
              <a:t>An Explainable Artificial Intelligence Framework for Medical Diagnosis</a:t>
            </a:r>
            <a:endParaRPr sz="3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20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ctr" rtl="0">
              <a:lnSpc>
                <a:spcPct val="100000"/>
              </a:lnSpc>
              <a:spcBef>
                <a:spcPts val="200"/>
              </a:spcBef>
              <a:spcAft>
                <a:spcPts val="0"/>
              </a:spcAft>
              <a:buNone/>
            </a:pPr>
            <a:r>
              <a:rPr lang="en-US" sz="1800" dirty="0">
                <a:solidFill>
                  <a:schemeClr val="dk1"/>
                </a:solidFill>
                <a:latin typeface="Times New Roman"/>
                <a:ea typeface="Times New Roman"/>
                <a:cs typeface="Times New Roman"/>
                <a:sym typeface="Times New Roman"/>
              </a:rPr>
              <a:t>Abhishek Bansal  2210991159</a:t>
            </a:r>
            <a:endParaRPr sz="1800" dirty="0">
              <a:solidFill>
                <a:schemeClr val="dk1"/>
              </a:solidFill>
              <a:latin typeface="Times New Roman"/>
              <a:ea typeface="Times New Roman"/>
              <a:cs typeface="Times New Roman"/>
              <a:sym typeface="Times New Roman"/>
            </a:endParaRPr>
          </a:p>
          <a:p>
            <a:pPr marL="0" marR="0" lvl="0" indent="0" algn="ctr" rtl="0">
              <a:lnSpc>
                <a:spcPct val="100000"/>
              </a:lnSpc>
              <a:spcBef>
                <a:spcPts val="200"/>
              </a:spcBef>
              <a:spcAft>
                <a:spcPts val="0"/>
              </a:spcAft>
              <a:buNone/>
            </a:pPr>
            <a:endParaRPr lang="en-US" sz="1800" dirty="0">
              <a:solidFill>
                <a:schemeClr val="dk1"/>
              </a:solidFill>
              <a:latin typeface="Times New Roman"/>
              <a:ea typeface="Times New Roman"/>
              <a:cs typeface="Times New Roman"/>
              <a:sym typeface="Times New Roman"/>
            </a:endParaRPr>
          </a:p>
          <a:p>
            <a:pPr marL="0" marR="0" lvl="0" indent="0" algn="ctr" rtl="0">
              <a:lnSpc>
                <a:spcPct val="100000"/>
              </a:lnSpc>
              <a:spcBef>
                <a:spcPts val="200"/>
              </a:spcBef>
              <a:spcAft>
                <a:spcPts val="0"/>
              </a:spcAft>
              <a:buNone/>
            </a:pPr>
            <a:endParaRPr lang="en-IN" sz="1800" dirty="0">
              <a:solidFill>
                <a:schemeClr val="dk1"/>
              </a:solidFill>
              <a:latin typeface="Times New Roman"/>
              <a:ea typeface="Times New Roman"/>
              <a:cs typeface="Times New Roman"/>
              <a:sym typeface="Times New Roman"/>
            </a:endParaRPr>
          </a:p>
          <a:p>
            <a:pPr marL="0" marR="0" lvl="0" indent="0" algn="ctr" rtl="0">
              <a:lnSpc>
                <a:spcPct val="100000"/>
              </a:lnSpc>
              <a:spcBef>
                <a:spcPts val="20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ctr" rtl="0">
              <a:lnSpc>
                <a:spcPct val="100000"/>
              </a:lnSpc>
              <a:spcBef>
                <a:spcPts val="300"/>
              </a:spcBef>
              <a:spcAft>
                <a:spcPts val="0"/>
              </a:spcAft>
              <a:buNone/>
            </a:pPr>
            <a:r>
              <a:rPr lang="en-US" sz="1800" b="0" i="0" u="none" strike="noStrike" cap="none" dirty="0">
                <a:solidFill>
                  <a:schemeClr val="dk1"/>
                </a:solidFill>
                <a:latin typeface="Times New Roman"/>
                <a:ea typeface="Times New Roman"/>
                <a:cs typeface="Times New Roman"/>
                <a:sym typeface="Times New Roman"/>
              </a:rPr>
              <a:t>Supervised By</a:t>
            </a:r>
            <a:endParaRPr dirty="0"/>
          </a:p>
          <a:p>
            <a:pPr marL="0" marR="0" lvl="0" indent="0" algn="ctr" rtl="0">
              <a:lnSpc>
                <a:spcPct val="100000"/>
              </a:lnSpc>
              <a:spcBef>
                <a:spcPts val="200"/>
              </a:spcBef>
              <a:spcAft>
                <a:spcPts val="0"/>
              </a:spcAft>
              <a:buNone/>
            </a:pPr>
            <a:r>
              <a:rPr lang="en-US" sz="1800" b="0" i="0" u="none" strike="noStrike" cap="none" dirty="0">
                <a:solidFill>
                  <a:schemeClr val="dk1"/>
                </a:solidFill>
                <a:latin typeface="Times New Roman"/>
                <a:ea typeface="Times New Roman"/>
                <a:cs typeface="Times New Roman"/>
                <a:sym typeface="Times New Roman"/>
              </a:rPr>
              <a:t>Dr. </a:t>
            </a:r>
            <a:r>
              <a:rPr lang="en-US" sz="1800" dirty="0">
                <a:solidFill>
                  <a:schemeClr val="dk1"/>
                </a:solidFill>
                <a:latin typeface="Times New Roman"/>
                <a:ea typeface="Times New Roman"/>
                <a:cs typeface="Times New Roman"/>
                <a:sym typeface="Times New Roman"/>
              </a:rPr>
              <a:t>Shikha Tuteja</a:t>
            </a:r>
            <a:endParaRPr dirty="0"/>
          </a:p>
          <a:p>
            <a:pPr marL="0" marR="0" lvl="0" indent="0" algn="ctr" rtl="0">
              <a:lnSpc>
                <a:spcPct val="100000"/>
              </a:lnSpc>
              <a:spcBef>
                <a:spcPts val="40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Department of Computer Science and Engineering,</a:t>
            </a:r>
            <a:endParaRPr dirty="0"/>
          </a:p>
          <a:p>
            <a:pPr marL="0" marR="0" lvl="0" indent="0" algn="ctr" rtl="0">
              <a:lnSpc>
                <a:spcPct val="100000"/>
              </a:lnSpc>
              <a:spcBef>
                <a:spcPts val="20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Chitkara University, Punjab</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a:ea typeface="Times New Roman"/>
                <a:cs typeface="Times New Roman"/>
                <a:sym typeface="Times New Roman"/>
              </a:rPr>
              <a:t>Presentation Outline</a:t>
            </a:r>
            <a:endParaRPr/>
          </a:p>
        </p:txBody>
      </p:sp>
      <p:sp>
        <p:nvSpPr>
          <p:cNvPr id="90" name="Google Shape;90;p15"/>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1" i="0" u="none" strike="noStrike" cap="none">
              <a:solidFill>
                <a:srgbClr val="000000"/>
              </a:solidFill>
              <a:latin typeface="Calibri"/>
              <a:ea typeface="Calibri"/>
              <a:cs typeface="Calibri"/>
              <a:sym typeface="Calibri"/>
            </a:endParaRPr>
          </a:p>
        </p:txBody>
      </p:sp>
      <p:sp>
        <p:nvSpPr>
          <p:cNvPr id="91" name="Google Shape;91;p15"/>
          <p:cNvSpPr txBox="1"/>
          <p:nvPr/>
        </p:nvSpPr>
        <p:spPr>
          <a:xfrm>
            <a:off x="164008" y="900000"/>
            <a:ext cx="8838720" cy="5200000"/>
          </a:xfrm>
          <a:prstGeom prst="rect">
            <a:avLst/>
          </a:prstGeom>
          <a:noFill/>
          <a:ln>
            <a:noFill/>
          </a:ln>
        </p:spPr>
        <p:txBody>
          <a:bodyPr spcFirstLastPara="1" wrap="square" lIns="91425" tIns="45700" rIns="91425" bIns="45700" anchor="t" anchorCtr="0">
            <a:noAutofit/>
          </a:bodyPr>
          <a:lstStyle/>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Introduction &amp; Motivation</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Problem Statement</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Existing Methods &amp; Research Gap</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Proposed Hybrid Framework</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Backend AI Enhancement Pipeline</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Frontend Real-Time Enhancement Pipeline</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System Architecture &amp; Workflow</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Dataset, Training &amp; Evaluation</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Results &amp; Performance Analysis</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Qualitative Comparison</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Limitations &amp; Future Scope</a:t>
            </a:r>
            <a:endParaRPr sz="1500">
              <a:latin typeface="Times New Roman"/>
              <a:ea typeface="Times New Roman"/>
              <a:cs typeface="Times New Roman"/>
              <a:sym typeface="Times New Roman"/>
            </a:endParaRPr>
          </a:p>
          <a:p>
            <a:pPr marL="457200" lvl="0" indent="-323850" algn="l" rtl="0">
              <a:lnSpc>
                <a:spcPct val="150000"/>
              </a:lnSpc>
              <a:spcBef>
                <a:spcPts val="0"/>
              </a:spcBef>
              <a:spcAft>
                <a:spcPts val="0"/>
              </a:spcAft>
              <a:buSzPts val="1500"/>
              <a:buFont typeface="Times New Roman"/>
              <a:buChar char="●"/>
            </a:pPr>
            <a:r>
              <a:rPr lang="en-US" sz="1500">
                <a:latin typeface="Times New Roman"/>
                <a:ea typeface="Times New Roman"/>
                <a:cs typeface="Times New Roman"/>
                <a:sym typeface="Times New Roman"/>
              </a:rPr>
              <a:t>Conclusion</a:t>
            </a:r>
            <a:endParaRPr sz="1500">
              <a:latin typeface="Times New Roman"/>
              <a:ea typeface="Times New Roman"/>
              <a:cs typeface="Times New Roman"/>
              <a:sym typeface="Times New Roman"/>
            </a:endParaRPr>
          </a:p>
          <a:p>
            <a:pPr marL="457200" marR="0" lvl="0" indent="0" algn="l" rtl="0">
              <a:spcBef>
                <a:spcPts val="0"/>
              </a:spcBef>
              <a:spcAft>
                <a:spcPts val="0"/>
              </a:spcAft>
              <a:buNone/>
            </a:pPr>
            <a:endParaRPr sz="15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a:ea typeface="Times New Roman"/>
                <a:cs typeface="Times New Roman"/>
                <a:sym typeface="Times New Roman"/>
              </a:rPr>
              <a:t>Introduction &amp; Motivation</a:t>
            </a:r>
            <a:endParaRPr/>
          </a:p>
        </p:txBody>
      </p:sp>
      <p:sp>
        <p:nvSpPr>
          <p:cNvPr id="97" name="Google Shape;97;p16"/>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3</a:t>
            </a:fld>
            <a:endParaRPr sz="1200" b="1" i="0" u="none" strike="noStrike" cap="none">
              <a:solidFill>
                <a:srgbClr val="000000"/>
              </a:solidFill>
              <a:latin typeface="Calibri"/>
              <a:ea typeface="Calibri"/>
              <a:cs typeface="Calibri"/>
              <a:sym typeface="Calibri"/>
            </a:endParaRPr>
          </a:p>
        </p:txBody>
      </p:sp>
      <p:sp>
        <p:nvSpPr>
          <p:cNvPr id="98" name="Google Shape;98;p16"/>
          <p:cNvSpPr txBox="1"/>
          <p:nvPr/>
        </p:nvSpPr>
        <p:spPr>
          <a:xfrm>
            <a:off x="164008" y="900000"/>
            <a:ext cx="8838720" cy="5200000"/>
          </a:xfrm>
          <a:prstGeom prst="rect">
            <a:avLst/>
          </a:prstGeom>
          <a:noFill/>
          <a:ln>
            <a:noFill/>
          </a:ln>
        </p:spPr>
        <p:txBody>
          <a:bodyPr spcFirstLastPara="1" wrap="square" lIns="91425" tIns="45700" rIns="91425" bIns="45700" anchor="t" anchorCtr="0">
            <a:noAutofit/>
          </a:bodyPr>
          <a:lstStyle/>
          <a:p>
            <a:pPr lvl="0">
              <a:lnSpc>
                <a:spcPct val="150000"/>
              </a:lnSpc>
              <a:spcBef>
                <a:spcPts val="1200"/>
              </a:spcBef>
            </a:pPr>
            <a:r>
              <a:rPr lang="en-US" dirty="0">
                <a:solidFill>
                  <a:schemeClr val="dk1"/>
                </a:solidFill>
                <a:latin typeface="Times New Roman"/>
                <a:ea typeface="Times New Roman"/>
                <a:cs typeface="Times New Roman"/>
                <a:sym typeface="Times New Roman"/>
              </a:rPr>
              <a:t>Artificial Intelligence has been a great boon to the healthcare industry through improved diagnoses of diseases. Machines can understand complicated medical data and aid healthcare professionals to make sound judgments.</a:t>
            </a:r>
          </a:p>
          <a:p>
            <a:pPr lvl="0">
              <a:lnSpc>
                <a:spcPct val="150000"/>
              </a:lnSpc>
              <a:spcBef>
                <a:spcPts val="1200"/>
              </a:spcBef>
            </a:pPr>
            <a:r>
              <a:rPr lang="en-US" dirty="0">
                <a:solidFill>
                  <a:schemeClr val="dk1"/>
                </a:solidFill>
                <a:latin typeface="Times New Roman"/>
                <a:ea typeface="Times New Roman"/>
                <a:cs typeface="Times New Roman"/>
                <a:sym typeface="Times New Roman"/>
              </a:rPr>
              <a:t>But the problem with most AI models is their black box nature because they deliver decisions without any explanation. It makes it difficult to deploy AI systems in clinical settings, where there should be an element of accountability.</a:t>
            </a:r>
          </a:p>
          <a:p>
            <a:pPr lvl="0">
              <a:lnSpc>
                <a:spcPct val="150000"/>
              </a:lnSpc>
              <a:spcBef>
                <a:spcPts val="1200"/>
              </a:spcBef>
            </a:pPr>
            <a:r>
              <a:rPr lang="en-US" dirty="0">
                <a:solidFill>
                  <a:schemeClr val="dk1"/>
                </a:solidFill>
                <a:latin typeface="Times New Roman"/>
                <a:ea typeface="Times New Roman"/>
                <a:cs typeface="Times New Roman"/>
                <a:sym typeface="Times New Roman"/>
              </a:rPr>
              <a:t>Explainable Artificial Intelligence (XAI) is a technology used to provide explanations for decisions made by the AI models. The objective of this research is to develop a framework for a predictive model in the healthcare sector.</a:t>
            </a:r>
          </a:p>
          <a:p>
            <a:pPr lvl="0">
              <a:lnSpc>
                <a:spcPct val="150000"/>
              </a:lnSpc>
              <a:spcBef>
                <a:spcPts val="1200"/>
              </a:spcBef>
            </a:pPr>
            <a:r>
              <a:rPr lang="en-US" b="1" dirty="0">
                <a:solidFill>
                  <a:schemeClr val="dk1"/>
                </a:solidFill>
                <a:latin typeface="Times New Roman"/>
                <a:ea typeface="Times New Roman"/>
                <a:cs typeface="Times New Roman"/>
                <a:sym typeface="Times New Roman"/>
              </a:rPr>
              <a:t>Motivation</a:t>
            </a:r>
            <a:endParaRPr b="1" dirty="0">
              <a:solidFill>
                <a:schemeClr val="dk1"/>
              </a:solidFill>
              <a:latin typeface="Times New Roman"/>
              <a:ea typeface="Times New Roman"/>
              <a:cs typeface="Times New Roman"/>
              <a:sym typeface="Times New Roman"/>
            </a:endParaRPr>
          </a:p>
          <a:p>
            <a:pPr lvl="0">
              <a:lnSpc>
                <a:spcPct val="150000"/>
              </a:lnSpc>
              <a:spcBef>
                <a:spcPts val="1200"/>
              </a:spcBef>
            </a:pPr>
            <a:r>
              <a:rPr lang="en-US" dirty="0">
                <a:solidFill>
                  <a:schemeClr val="dk1"/>
                </a:solidFill>
                <a:latin typeface="Times New Roman"/>
                <a:ea typeface="Times New Roman"/>
                <a:cs typeface="Times New Roman"/>
                <a:sym typeface="Times New Roman"/>
              </a:rPr>
              <a:t>With more AI being used in the health sector, it is imperative that the systems deployed have a high level of accuracy and understandability. Clinicians are skeptical about adopting black-box AI because they cannot justify the decisions.</a:t>
            </a:r>
          </a:p>
          <a:p>
            <a:pPr lvl="0">
              <a:lnSpc>
                <a:spcPct val="150000"/>
              </a:lnSpc>
              <a:spcBef>
                <a:spcPts val="1200"/>
              </a:spcBef>
            </a:pPr>
            <a:r>
              <a:rPr lang="en-US" dirty="0">
                <a:solidFill>
                  <a:schemeClr val="dk1"/>
                </a:solidFill>
                <a:latin typeface="Times New Roman"/>
                <a:ea typeface="Times New Roman"/>
                <a:cs typeface="Times New Roman"/>
                <a:sym typeface="Times New Roman"/>
              </a:rPr>
              <a:t>This project is driven by the need to create an XAI framework with both predictive capacity and explainability. The use of interpretability methods like SHAP and LIME will lead to increased trust and informed decisions among clinicians and the ethical implementation of AI in health care.</a:t>
            </a:r>
          </a:p>
          <a:p>
            <a:pPr lvl="0">
              <a:lnSpc>
                <a:spcPct val="150000"/>
              </a:lnSpc>
              <a:spcBef>
                <a:spcPts val="1200"/>
              </a:spcBef>
            </a:pPr>
            <a:r>
              <a:rPr lang="en-US" dirty="0">
                <a:solidFill>
                  <a:schemeClr val="dk1"/>
                </a:solidFill>
                <a:latin typeface="Times New Roman"/>
                <a:ea typeface="Times New Roman"/>
                <a:cs typeface="Times New Roman"/>
                <a:sym typeface="Times New Roman"/>
              </a:rPr>
              <a:t>This version allows you to have your introduction &amp; motivation slides in place with balanced content.</a:t>
            </a:r>
            <a:endParaRPr sz="20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7"/>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a:ea typeface="Times New Roman"/>
                <a:cs typeface="Times New Roman"/>
                <a:sym typeface="Times New Roman"/>
              </a:rPr>
              <a:t>Problem Statement</a:t>
            </a:r>
            <a:endParaRPr/>
          </a:p>
        </p:txBody>
      </p:sp>
      <p:sp>
        <p:nvSpPr>
          <p:cNvPr id="104" name="Google Shape;104;p17"/>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4</a:t>
            </a:fld>
            <a:endParaRPr sz="1200" b="1" i="0" u="none" strike="noStrike" cap="none">
              <a:solidFill>
                <a:srgbClr val="000000"/>
              </a:solidFill>
              <a:latin typeface="Calibri"/>
              <a:ea typeface="Calibri"/>
              <a:cs typeface="Calibri"/>
              <a:sym typeface="Calibri"/>
            </a:endParaRPr>
          </a:p>
        </p:txBody>
      </p:sp>
      <p:sp>
        <p:nvSpPr>
          <p:cNvPr id="105" name="Google Shape;105;p17"/>
          <p:cNvSpPr txBox="1"/>
          <p:nvPr/>
        </p:nvSpPr>
        <p:spPr>
          <a:xfrm>
            <a:off x="164000" y="900000"/>
            <a:ext cx="8877900" cy="5546700"/>
          </a:xfrm>
          <a:prstGeom prst="rect">
            <a:avLst/>
          </a:prstGeom>
          <a:noFill/>
          <a:ln>
            <a:noFill/>
          </a:ln>
        </p:spPr>
        <p:txBody>
          <a:bodyPr spcFirstLastPara="1" wrap="square" lIns="91425" tIns="45700" rIns="91425" bIns="45700" anchor="t" anchorCtr="0">
            <a:noAutofit/>
          </a:bodyPr>
          <a:lstStyle/>
          <a:p>
            <a:pPr lvl="0">
              <a:lnSpc>
                <a:spcPct val="150000"/>
              </a:lnSpc>
              <a:spcBef>
                <a:spcPts val="1200"/>
              </a:spcBef>
            </a:pPr>
            <a:r>
              <a:rPr lang="en-US" dirty="0">
                <a:solidFill>
                  <a:schemeClr val="dk1"/>
                </a:solidFill>
                <a:latin typeface="Times New Roman"/>
                <a:ea typeface="Times New Roman"/>
                <a:cs typeface="Times New Roman"/>
                <a:sym typeface="Times New Roman"/>
              </a:rPr>
              <a:t>The conventional AI methods used in healthcare have high predictive accuracy, but they lack the ability to provide explanations for the predictions. This becomes more critical in healthcare where the decisions made determine patients' well-being and future treatment.</a:t>
            </a:r>
          </a:p>
          <a:p>
            <a:pPr lvl="0">
              <a:lnSpc>
                <a:spcPct val="150000"/>
              </a:lnSpc>
              <a:spcBef>
                <a:spcPts val="1200"/>
              </a:spcBef>
            </a:pPr>
            <a:r>
              <a:rPr lang="en-US" b="1" dirty="0">
                <a:solidFill>
                  <a:schemeClr val="dk1"/>
                </a:solidFill>
                <a:latin typeface="Times New Roman"/>
                <a:ea typeface="Times New Roman"/>
                <a:cs typeface="Times New Roman"/>
                <a:sym typeface="Times New Roman"/>
              </a:rPr>
              <a:t>Major challenges include:</a:t>
            </a:r>
          </a:p>
          <a:p>
            <a:pPr lvl="0">
              <a:lnSpc>
                <a:spcPct val="150000"/>
              </a:lnSpc>
              <a:spcBef>
                <a:spcPts val="1200"/>
              </a:spcBef>
            </a:pPr>
            <a:r>
              <a:rPr lang="en-US" dirty="0">
                <a:latin typeface="Times New Roman" panose="02020603050405020304" pitchFamily="18" charset="0"/>
                <a:cs typeface="Times New Roman" panose="02020603050405020304" pitchFamily="18" charset="0"/>
              </a:rPr>
              <a:t>• Lack of transparency in predictions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Difficulty validating AI decisions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Limited clinician trust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Ethical and accountability concerns</a:t>
            </a:r>
          </a:p>
          <a:p>
            <a:pPr lvl="0">
              <a:lnSpc>
                <a:spcPct val="150000"/>
              </a:lnSpc>
              <a:spcBef>
                <a:spcPts val="1200"/>
              </a:spcBef>
            </a:pPr>
            <a:r>
              <a:rPr lang="en-US" b="1" dirty="0">
                <a:solidFill>
                  <a:schemeClr val="dk1"/>
                </a:solidFill>
                <a:latin typeface="Times New Roman"/>
                <a:ea typeface="Times New Roman"/>
                <a:cs typeface="Times New Roman"/>
                <a:sym typeface="Times New Roman"/>
              </a:rPr>
              <a:t>Research Objective</a:t>
            </a:r>
            <a:endParaRPr lang="en-US" dirty="0">
              <a:solidFill>
                <a:schemeClr val="dk1"/>
              </a:solidFill>
              <a:latin typeface="Times New Roman"/>
              <a:ea typeface="Times New Roman"/>
              <a:cs typeface="Times New Roman"/>
              <a:sym typeface="Times New Roman"/>
            </a:endParaRPr>
          </a:p>
          <a:p>
            <a:pPr lvl="0">
              <a:lnSpc>
                <a:spcPct val="150000"/>
              </a:lnSpc>
              <a:spcBef>
                <a:spcPts val="1200"/>
              </a:spcBef>
            </a:pPr>
            <a:r>
              <a:rPr lang="en-US" dirty="0">
                <a:solidFill>
                  <a:schemeClr val="dk1"/>
                </a:solidFill>
                <a:latin typeface="Times New Roman"/>
                <a:ea typeface="Times New Roman"/>
                <a:cs typeface="Times New Roman"/>
                <a:sym typeface="Times New Roman"/>
              </a:rPr>
              <a:t>To develop an Explainable AI framework capable of generating reliable diagnostic predictions while simultaneously explaining the reasoning behind each outcome.</a:t>
            </a:r>
          </a:p>
          <a:p>
            <a:pPr>
              <a:lnSpc>
                <a:spcPct val="150000"/>
              </a:lnSpc>
            </a:pPr>
            <a:r>
              <a:rPr lang="en-US" b="1" dirty="0">
                <a:latin typeface="Times New Roman" panose="02020603050405020304" pitchFamily="18" charset="0"/>
                <a:cs typeface="Times New Roman" panose="02020603050405020304" pitchFamily="18" charset="0"/>
              </a:rPr>
              <a:t>Proposed Solution</a:t>
            </a:r>
          </a:p>
          <a:p>
            <a:pPr>
              <a:lnSpc>
                <a:spcPct val="150000"/>
              </a:lnSpc>
            </a:pPr>
            <a:r>
              <a:rPr lang="en-US" dirty="0">
                <a:latin typeface="Times New Roman" panose="02020603050405020304" pitchFamily="18" charset="0"/>
                <a:cs typeface="Times New Roman" panose="02020603050405020304" pitchFamily="18" charset="0"/>
              </a:rPr>
              <a:t>The proposed system introduces an </a:t>
            </a:r>
            <a:r>
              <a:rPr lang="en-US" b="1" dirty="0">
                <a:latin typeface="Times New Roman" panose="02020603050405020304" pitchFamily="18" charset="0"/>
                <a:cs typeface="Times New Roman" panose="02020603050405020304" pitchFamily="18" charset="0"/>
              </a:rPr>
              <a:t>Explainable Artificial Intelligence (XAI) framework</a:t>
            </a:r>
            <a:r>
              <a:rPr lang="en-US" dirty="0">
                <a:latin typeface="Times New Roman" panose="02020603050405020304" pitchFamily="18" charset="0"/>
                <a:cs typeface="Times New Roman" panose="02020603050405020304" pitchFamily="18" charset="0"/>
              </a:rPr>
              <a:t> for healthcare diagnosis that combines predictive accuracy with interpretability. The model not only predicts medical outcomes but also provides clear explanations for each decision, allowing healthcare professionals to understand the factors influencing the prediction.</a:t>
            </a:r>
          </a:p>
          <a:p>
            <a:pPr lvl="0">
              <a:lnSpc>
                <a:spcPct val="115000"/>
              </a:lnSpc>
              <a:spcBef>
                <a:spcPts val="1200"/>
              </a:spcBef>
            </a:pPr>
            <a:endParaRPr lang="en-US" sz="15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a:ea typeface="Times New Roman"/>
                <a:cs typeface="Times New Roman"/>
                <a:sym typeface="Times New Roman"/>
              </a:rPr>
              <a:t>Related Work</a:t>
            </a:r>
            <a:endParaRPr/>
          </a:p>
        </p:txBody>
      </p:sp>
      <p:sp>
        <p:nvSpPr>
          <p:cNvPr id="111" name="Google Shape;111;p18"/>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5</a:t>
            </a:fld>
            <a:endParaRPr sz="1200" b="1" i="0" u="none" strike="noStrike" cap="none">
              <a:solidFill>
                <a:srgbClr val="000000"/>
              </a:solidFill>
              <a:latin typeface="Calibri"/>
              <a:ea typeface="Calibri"/>
              <a:cs typeface="Calibri"/>
              <a:sym typeface="Calibri"/>
            </a:endParaRPr>
          </a:p>
        </p:txBody>
      </p:sp>
      <p:sp>
        <p:nvSpPr>
          <p:cNvPr id="112" name="Google Shape;112;p18"/>
          <p:cNvSpPr txBox="1"/>
          <p:nvPr/>
        </p:nvSpPr>
        <p:spPr>
          <a:xfrm>
            <a:off x="152640" y="919664"/>
            <a:ext cx="8838720" cy="5200000"/>
          </a:xfrm>
          <a:prstGeom prst="rect">
            <a:avLst/>
          </a:prstGeom>
          <a:noFill/>
          <a:ln>
            <a:noFill/>
          </a:ln>
        </p:spPr>
        <p:txBody>
          <a:bodyPr spcFirstLastPara="1" wrap="square" lIns="91425" tIns="45700" rIns="91425" bIns="45700" anchor="t" anchorCtr="0">
            <a:noAutofit/>
          </a:bodyPr>
          <a:lstStyle/>
          <a:p>
            <a:pPr>
              <a:lnSpc>
                <a:spcPct val="150000"/>
              </a:lnSpc>
            </a:pPr>
            <a:r>
              <a:rPr lang="en-US" dirty="0">
                <a:latin typeface="Times New Roman" panose="02020603050405020304" pitchFamily="18" charset="0"/>
                <a:cs typeface="Times New Roman" panose="02020603050405020304" pitchFamily="18" charset="0"/>
              </a:rPr>
              <a:t>Artificial Intelligence has become an important part of healthcare for disease diagnosis and medical data analysis. Machine learning techniques such as </a:t>
            </a:r>
            <a:r>
              <a:rPr lang="en-US" b="1" dirty="0">
                <a:latin typeface="Times New Roman" panose="02020603050405020304" pitchFamily="18" charset="0"/>
                <a:cs typeface="Times New Roman" panose="02020603050405020304" pitchFamily="18" charset="0"/>
              </a:rPr>
              <a:t>Decision Trees, Random Forest, SVM, and Logistic Regression</a:t>
            </a:r>
            <a:r>
              <a:rPr lang="en-US" dirty="0">
                <a:latin typeface="Times New Roman" panose="02020603050405020304" pitchFamily="18" charset="0"/>
                <a:cs typeface="Times New Roman" panose="02020603050405020304" pitchFamily="18" charset="0"/>
              </a:rPr>
              <a:t> are widely used for healthcare prediction tasks. With advancements in deep learning, </a:t>
            </a:r>
            <a:r>
              <a:rPr lang="en-US" b="1" dirty="0">
                <a:latin typeface="Times New Roman" panose="02020603050405020304" pitchFamily="18" charset="0"/>
                <a:cs typeface="Times New Roman" panose="02020603050405020304" pitchFamily="18" charset="0"/>
              </a:rPr>
              <a:t>ANNs and CNNs</a:t>
            </a:r>
            <a:r>
              <a:rPr lang="en-US" dirty="0">
                <a:latin typeface="Times New Roman" panose="02020603050405020304" pitchFamily="18" charset="0"/>
                <a:cs typeface="Times New Roman" panose="02020603050405020304" pitchFamily="18" charset="0"/>
              </a:rPr>
              <a:t> have shown strong performance, especially in medical image analysis and disease detection.</a:t>
            </a:r>
          </a:p>
          <a:p>
            <a:pPr>
              <a:lnSpc>
                <a:spcPct val="150000"/>
              </a:lnSpc>
            </a:pPr>
            <a:r>
              <a:rPr lang="en-US" dirty="0">
                <a:latin typeface="Times New Roman" panose="02020603050405020304" pitchFamily="18" charset="0"/>
                <a:cs typeface="Times New Roman" panose="02020603050405020304" pitchFamily="18" charset="0"/>
              </a:rPr>
              <a:t>To improve transparency, </a:t>
            </a:r>
            <a:r>
              <a:rPr lang="en-US" b="1" dirty="0">
                <a:latin typeface="Times New Roman" panose="02020603050405020304" pitchFamily="18" charset="0"/>
                <a:cs typeface="Times New Roman" panose="02020603050405020304" pitchFamily="18" charset="0"/>
              </a:rPr>
              <a:t>Explainable AI (XAI)</a:t>
            </a:r>
            <a:r>
              <a:rPr lang="en-US" dirty="0">
                <a:latin typeface="Times New Roman" panose="02020603050405020304" pitchFamily="18" charset="0"/>
                <a:cs typeface="Times New Roman" panose="02020603050405020304" pitchFamily="18" charset="0"/>
              </a:rPr>
              <a:t> techniques such as </a:t>
            </a:r>
            <a:r>
              <a:rPr lang="en-US" b="1" dirty="0">
                <a:latin typeface="Times New Roman" panose="02020603050405020304" pitchFamily="18" charset="0"/>
                <a:cs typeface="Times New Roman" panose="02020603050405020304" pitchFamily="18" charset="0"/>
              </a:rPr>
              <a:t>SHAP and LIME</a:t>
            </a:r>
            <a:r>
              <a:rPr lang="en-US" dirty="0">
                <a:latin typeface="Times New Roman" panose="02020603050405020304" pitchFamily="18" charset="0"/>
                <a:cs typeface="Times New Roman" panose="02020603050405020304" pitchFamily="18" charset="0"/>
              </a:rPr>
              <a:t> have been introduced to explain predictions and identify important features. However, many healthcare AI systems still focus more on accuracy than interpretability.</a:t>
            </a:r>
          </a:p>
          <a:p>
            <a:pPr>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Research Gap</a:t>
            </a:r>
          </a:p>
          <a:p>
            <a:pPr>
              <a:lnSpc>
                <a:spcPct val="150000"/>
              </a:lnSpc>
            </a:pPr>
            <a:r>
              <a:rPr lang="en-US" dirty="0">
                <a:latin typeface="Times New Roman" panose="02020603050405020304" pitchFamily="18" charset="0"/>
                <a:cs typeface="Times New Roman" panose="02020603050405020304" pitchFamily="18" charset="0"/>
              </a:rPr>
              <a:t>Despite significant progress, most healthcare AI models operate as </a:t>
            </a:r>
            <a:r>
              <a:rPr lang="en-US" b="1" dirty="0">
                <a:latin typeface="Times New Roman" panose="02020603050405020304" pitchFamily="18" charset="0"/>
                <a:cs typeface="Times New Roman" panose="02020603050405020304" pitchFamily="18" charset="0"/>
              </a:rPr>
              <a:t>black-box systems</a:t>
            </a:r>
            <a:r>
              <a:rPr lang="en-US" dirty="0">
                <a:latin typeface="Times New Roman" panose="02020603050405020304" pitchFamily="18" charset="0"/>
                <a:cs typeface="Times New Roman" panose="02020603050405020304" pitchFamily="18" charset="0"/>
              </a:rPr>
              <a:t>, making it difficult for clinicians to understand and validate predictions. Many studies prioritize </a:t>
            </a:r>
            <a:r>
              <a:rPr lang="en-US" b="1" dirty="0">
                <a:latin typeface="Times New Roman" panose="02020603050405020304" pitchFamily="18" charset="0"/>
                <a:cs typeface="Times New Roman" panose="02020603050405020304" pitchFamily="18" charset="0"/>
              </a:rPr>
              <a:t>prediction accuracy</a:t>
            </a:r>
            <a:r>
              <a:rPr lang="en-US" dirty="0">
                <a:latin typeface="Times New Roman" panose="02020603050405020304" pitchFamily="18" charset="0"/>
                <a:cs typeface="Times New Roman" panose="02020603050405020304" pitchFamily="18" charset="0"/>
              </a:rPr>
              <a:t> while overlooking </a:t>
            </a:r>
            <a:r>
              <a:rPr lang="en-US" b="1" dirty="0">
                <a:latin typeface="Times New Roman" panose="02020603050405020304" pitchFamily="18" charset="0"/>
                <a:cs typeface="Times New Roman" panose="02020603050405020304" pitchFamily="18" charset="0"/>
              </a:rPr>
              <a:t>explainability, trust, and decision validation</a:t>
            </a:r>
            <a:r>
              <a:rPr lang="en-US" dirty="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The proposed research addresses this gap by integrating </a:t>
            </a:r>
            <a:r>
              <a:rPr lang="en-US" b="1" dirty="0">
                <a:latin typeface="Times New Roman" panose="02020603050405020304" pitchFamily="18" charset="0"/>
                <a:cs typeface="Times New Roman" panose="02020603050405020304" pitchFamily="18" charset="0"/>
              </a:rPr>
              <a:t>SHAP and LIME</a:t>
            </a:r>
            <a:r>
              <a:rPr lang="en-US" dirty="0">
                <a:latin typeface="Times New Roman" panose="02020603050405020304" pitchFamily="18" charset="0"/>
                <a:cs typeface="Times New Roman" panose="02020603050405020304" pitchFamily="18" charset="0"/>
              </a:rPr>
              <a:t> with predictive models to balance </a:t>
            </a:r>
            <a:r>
              <a:rPr lang="en-US" b="1" dirty="0">
                <a:latin typeface="Times New Roman" panose="02020603050405020304" pitchFamily="18" charset="0"/>
                <a:cs typeface="Times New Roman" panose="02020603050405020304" pitchFamily="18" charset="0"/>
              </a:rPr>
              <a:t>diagnostic accuracy and transparency</a:t>
            </a:r>
            <a:r>
              <a:rPr lang="en-US" dirty="0">
                <a:latin typeface="Times New Roman" panose="02020603050405020304" pitchFamily="18" charset="0"/>
                <a:cs typeface="Times New Roman" panose="02020603050405020304" pitchFamily="18" charset="0"/>
              </a:rPr>
              <a:t>, supporting more trustworthy healthcare decision-making.</a:t>
            </a:r>
          </a:p>
          <a:p>
            <a:pPr marL="0" lvl="0" indent="0" algn="l" rtl="0">
              <a:lnSpc>
                <a:spcPct val="115000"/>
              </a:lnSpc>
              <a:spcBef>
                <a:spcPts val="1200"/>
              </a:spcBef>
              <a:spcAft>
                <a:spcPts val="1200"/>
              </a:spcAft>
              <a:buNone/>
            </a:pPr>
            <a:endParaRPr sz="17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dirty="0">
                <a:solidFill>
                  <a:schemeClr val="dk1"/>
                </a:solidFill>
                <a:latin typeface="Times New Roman"/>
                <a:ea typeface="Times New Roman"/>
                <a:cs typeface="Times New Roman"/>
                <a:sym typeface="Times New Roman"/>
              </a:rPr>
              <a:t>Proposed XAI Framework </a:t>
            </a:r>
            <a:endParaRPr dirty="0"/>
          </a:p>
        </p:txBody>
      </p:sp>
      <p:sp>
        <p:nvSpPr>
          <p:cNvPr id="118" name="Google Shape;118;p19"/>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6</a:t>
            </a:fld>
            <a:endParaRPr sz="1200" b="1" i="0" u="none" strike="noStrike" cap="none">
              <a:solidFill>
                <a:srgbClr val="000000"/>
              </a:solidFill>
              <a:latin typeface="Calibri"/>
              <a:ea typeface="Calibri"/>
              <a:cs typeface="Calibri"/>
              <a:sym typeface="Calibri"/>
            </a:endParaRPr>
          </a:p>
        </p:txBody>
      </p:sp>
      <p:sp>
        <p:nvSpPr>
          <p:cNvPr id="119" name="Google Shape;119;p19"/>
          <p:cNvSpPr txBox="1"/>
          <p:nvPr/>
        </p:nvSpPr>
        <p:spPr>
          <a:xfrm>
            <a:off x="164008" y="900000"/>
            <a:ext cx="8838720" cy="5200000"/>
          </a:xfrm>
          <a:prstGeom prst="rect">
            <a:avLst/>
          </a:prstGeom>
          <a:noFill/>
          <a:ln>
            <a:noFill/>
          </a:ln>
        </p:spPr>
        <p:txBody>
          <a:bodyPr spcFirstLastPara="1" wrap="square" lIns="91425" tIns="45700" rIns="91425" bIns="45700" anchor="t" anchorCtr="0">
            <a:noAutofit/>
          </a:bodyPr>
          <a:lstStyle/>
          <a:p>
            <a:pPr>
              <a:lnSpc>
                <a:spcPct val="150000"/>
              </a:lnSpc>
            </a:pPr>
            <a:r>
              <a:rPr lang="en-US" dirty="0">
                <a:latin typeface="Times New Roman" panose="02020603050405020304" pitchFamily="18" charset="0"/>
                <a:cs typeface="Times New Roman" panose="02020603050405020304" pitchFamily="18" charset="0"/>
              </a:rPr>
              <a:t>The proposed </a:t>
            </a:r>
            <a:r>
              <a:rPr lang="en-US" b="1" dirty="0">
                <a:latin typeface="Times New Roman" panose="02020603050405020304" pitchFamily="18" charset="0"/>
                <a:cs typeface="Times New Roman" panose="02020603050405020304" pitchFamily="18" charset="0"/>
              </a:rPr>
              <a:t>Explainable Artificial Intelligence (XAI) framework</a:t>
            </a:r>
            <a:r>
              <a:rPr lang="en-US" dirty="0">
                <a:latin typeface="Times New Roman" panose="02020603050405020304" pitchFamily="18" charset="0"/>
                <a:cs typeface="Times New Roman" panose="02020603050405020304" pitchFamily="18" charset="0"/>
              </a:rPr>
              <a:t> is designed to provide accurate medical diagnosis while ensuring transparency and interpretability in the decision-making process. Unlike traditional black-box AI systems, the framework not only predicts medical outcomes but also explains the reasoning behind those predictions, making the system more reliable and trustworthy for healthcare professionals.</a:t>
            </a:r>
          </a:p>
          <a:p>
            <a:pPr>
              <a:lnSpc>
                <a:spcPct val="150000"/>
              </a:lnSpc>
            </a:pPr>
            <a:r>
              <a:rPr lang="en-US" dirty="0">
                <a:latin typeface="Times New Roman" panose="02020603050405020304" pitchFamily="18" charset="0"/>
                <a:cs typeface="Times New Roman" panose="02020603050405020304" pitchFamily="18" charset="0"/>
              </a:rPr>
              <a:t>The framework follows a structured workflow beginning with </a:t>
            </a:r>
            <a:r>
              <a:rPr lang="en-US" b="1" dirty="0">
                <a:latin typeface="Times New Roman" panose="02020603050405020304" pitchFamily="18" charset="0"/>
                <a:cs typeface="Times New Roman" panose="02020603050405020304" pitchFamily="18" charset="0"/>
              </a:rPr>
              <a:t>healthcare data acquisition</a:t>
            </a:r>
            <a:r>
              <a:rPr lang="en-US" dirty="0">
                <a:latin typeface="Times New Roman" panose="02020603050405020304" pitchFamily="18" charset="0"/>
                <a:cs typeface="Times New Roman" panose="02020603050405020304" pitchFamily="18" charset="0"/>
              </a:rPr>
              <a:t>, where patient information such as medical records, laboratory reports, and diagnostic imaging data is collected from multiple sources. This data then undergoes </a:t>
            </a: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including cleaning, normalization, and feature extraction to improve quality and consistency before analysis.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Key Features of the Framework</a:t>
            </a:r>
          </a:p>
          <a:p>
            <a:pPr>
              <a:lnSpc>
                <a:spcPct val="150000"/>
              </a:lnSpc>
            </a:pPr>
            <a:r>
              <a:rPr lang="en-US" dirty="0">
                <a:latin typeface="Times New Roman" panose="02020603050405020304" pitchFamily="18" charset="0"/>
                <a:cs typeface="Times New Roman" panose="02020603050405020304" pitchFamily="18" charset="0"/>
              </a:rPr>
              <a:t>• Accurate disease prediction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Transparent and interpretable results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Improved clinician trust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Reduced decision validation time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Scalable and healthcare-friendly architecture</a:t>
            </a:r>
          </a:p>
          <a:p>
            <a:pPr>
              <a:lnSpc>
                <a:spcPct val="150000"/>
              </a:lnSpc>
            </a:pPr>
            <a:r>
              <a:rPr lang="en-US" dirty="0">
                <a:latin typeface="Times New Roman" panose="02020603050405020304" pitchFamily="18" charset="0"/>
                <a:cs typeface="Times New Roman" panose="02020603050405020304" pitchFamily="18" charset="0"/>
              </a:rPr>
              <a:t>The proposed framework aims to achieve an effective balance between </a:t>
            </a:r>
            <a:r>
              <a:rPr lang="en-US" b="1" dirty="0">
                <a:latin typeface="Times New Roman" panose="02020603050405020304" pitchFamily="18" charset="0"/>
                <a:cs typeface="Times New Roman" panose="02020603050405020304" pitchFamily="18" charset="0"/>
              </a:rPr>
              <a:t>prediction accuracy and explainability</a:t>
            </a:r>
            <a:r>
              <a:rPr lang="en-US" dirty="0">
                <a:latin typeface="Times New Roman" panose="02020603050405020304" pitchFamily="18" charset="0"/>
                <a:cs typeface="Times New Roman" panose="02020603050405020304" pitchFamily="18" charset="0"/>
              </a:rPr>
              <a:t>, supporting more ethical and dependable healthcare decision-making.</a:t>
            </a:r>
          </a:p>
          <a:p>
            <a:pPr marL="457200" marR="0" lvl="0" indent="0" algn="l" rtl="0">
              <a:spcBef>
                <a:spcPts val="1200"/>
              </a:spcBef>
              <a:spcAft>
                <a:spcPts val="0"/>
              </a:spcAft>
              <a:buNone/>
            </a:pPr>
            <a:endParaRPr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dirty="0">
                <a:solidFill>
                  <a:schemeClr val="dk1"/>
                </a:solidFill>
                <a:latin typeface="Times New Roman"/>
                <a:ea typeface="Times New Roman"/>
                <a:cs typeface="Times New Roman"/>
                <a:sym typeface="Times New Roman"/>
              </a:rPr>
              <a:t>Methodology</a:t>
            </a:r>
          </a:p>
        </p:txBody>
      </p:sp>
      <p:sp>
        <p:nvSpPr>
          <p:cNvPr id="125" name="Google Shape;125;p20"/>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7</a:t>
            </a:fld>
            <a:endParaRPr sz="1200" b="1" i="0" u="none" strike="noStrike" cap="none">
              <a:solidFill>
                <a:srgbClr val="000000"/>
              </a:solidFill>
              <a:latin typeface="Calibri"/>
              <a:ea typeface="Calibri"/>
              <a:cs typeface="Calibri"/>
              <a:sym typeface="Calibri"/>
            </a:endParaRPr>
          </a:p>
        </p:txBody>
      </p:sp>
      <p:sp>
        <p:nvSpPr>
          <p:cNvPr id="126" name="Google Shape;126;p20"/>
          <p:cNvSpPr txBox="1"/>
          <p:nvPr/>
        </p:nvSpPr>
        <p:spPr>
          <a:xfrm>
            <a:off x="164000" y="900000"/>
            <a:ext cx="8882400" cy="5758200"/>
          </a:xfrm>
          <a:prstGeom prst="rect">
            <a:avLst/>
          </a:prstGeom>
          <a:noFill/>
          <a:ln>
            <a:noFill/>
          </a:ln>
        </p:spPr>
        <p:txBody>
          <a:bodyPr spcFirstLastPara="1" wrap="square" lIns="91425" tIns="45700" rIns="91425" bIns="45700" anchor="t" anchorCtr="0">
            <a:noAutofit/>
          </a:bodyPr>
          <a:lstStyle/>
          <a:p>
            <a:pPr>
              <a:lnSpc>
                <a:spcPct val="150000"/>
              </a:lnSpc>
            </a:pPr>
            <a:r>
              <a:rPr lang="en-US" dirty="0">
                <a:latin typeface="Times New Roman" panose="02020603050405020304" pitchFamily="18" charset="0"/>
                <a:cs typeface="Times New Roman" panose="02020603050405020304" pitchFamily="18" charset="0"/>
              </a:rPr>
              <a:t>The proposed Explainable Artificial Intelligence framework follows a systematic methodology to ensure reliable diagnosis and transparent decision-making. The process begins with </a:t>
            </a:r>
            <a:r>
              <a:rPr lang="en-US" b="1" dirty="0">
                <a:latin typeface="Times New Roman" panose="02020603050405020304" pitchFamily="18" charset="0"/>
                <a:cs typeface="Times New Roman" panose="02020603050405020304" pitchFamily="18" charset="0"/>
              </a:rPr>
              <a:t>healthcare data collection</a:t>
            </a:r>
            <a:r>
              <a:rPr lang="en-US" dirty="0">
                <a:latin typeface="Times New Roman" panose="02020603050405020304" pitchFamily="18" charset="0"/>
                <a:cs typeface="Times New Roman" panose="02020603050405020304" pitchFamily="18" charset="0"/>
              </a:rPr>
              <a:t>, where patient records, laboratory reports, and medical imaging data are gathered from relevant healthcare sources.</a:t>
            </a:r>
          </a:p>
          <a:p>
            <a:pPr>
              <a:lnSpc>
                <a:spcPct val="150000"/>
              </a:lnSpc>
            </a:pPr>
            <a:r>
              <a:rPr lang="en-US" dirty="0">
                <a:latin typeface="Times New Roman" panose="02020603050405020304" pitchFamily="18" charset="0"/>
                <a:cs typeface="Times New Roman" panose="02020603050405020304" pitchFamily="18" charset="0"/>
              </a:rPr>
              <a:t>The collected data undergoes </a:t>
            </a: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including noise removal, handling missing values, normalization, and feature extraction to improve data quality and consistency. For medical images, preprocessing techniques such as resizing and enhancement are applied to support accurate analysis.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After preprocessing, </a:t>
            </a:r>
            <a:r>
              <a:rPr lang="en-US" b="1" dirty="0">
                <a:latin typeface="Times New Roman" panose="02020603050405020304" pitchFamily="18" charset="0"/>
                <a:cs typeface="Times New Roman" panose="02020603050405020304" pitchFamily="18" charset="0"/>
              </a:rPr>
              <a:t>machine learning and deep learning models</a:t>
            </a:r>
            <a:r>
              <a:rPr lang="en-US" dirty="0">
                <a:latin typeface="Times New Roman" panose="02020603050405020304" pitchFamily="18" charset="0"/>
                <a:cs typeface="Times New Roman" panose="02020603050405020304" pitchFamily="18" charset="0"/>
              </a:rPr>
              <a:t> are trained using the prepared dataset. Algorithms including </a:t>
            </a:r>
            <a:r>
              <a:rPr lang="en-US" b="1" dirty="0">
                <a:latin typeface="Times New Roman" panose="02020603050405020304" pitchFamily="18" charset="0"/>
                <a:cs typeface="Times New Roman" panose="02020603050405020304" pitchFamily="18" charset="0"/>
              </a:rPr>
              <a:t>Random Forest, Decision Tree, and CNN models</a:t>
            </a:r>
            <a:r>
              <a:rPr lang="en-US" dirty="0">
                <a:latin typeface="Times New Roman" panose="02020603050405020304" pitchFamily="18" charset="0"/>
                <a:cs typeface="Times New Roman" panose="02020603050405020304" pitchFamily="18" charset="0"/>
              </a:rPr>
              <a:t> are utilized depending on the nature of the healthcare data.</a:t>
            </a:r>
          </a:p>
          <a:p>
            <a:pPr>
              <a:lnSpc>
                <a:spcPct val="150000"/>
              </a:lnSpc>
            </a:pPr>
            <a:r>
              <a:rPr lang="en-US" dirty="0">
                <a:latin typeface="Times New Roman" panose="02020603050405020304" pitchFamily="18" charset="0"/>
                <a:cs typeface="Times New Roman" panose="02020603050405020304" pitchFamily="18" charset="0"/>
              </a:rPr>
              <a:t>The next stage involves the </a:t>
            </a:r>
            <a:r>
              <a:rPr lang="en-US" b="1" dirty="0">
                <a:latin typeface="Times New Roman" panose="02020603050405020304" pitchFamily="18" charset="0"/>
                <a:cs typeface="Times New Roman" panose="02020603050405020304" pitchFamily="18" charset="0"/>
              </a:rPr>
              <a:t>integration of explainability techniques</a:t>
            </a:r>
            <a:r>
              <a:rPr lang="en-US" dirty="0">
                <a:latin typeface="Times New Roman" panose="02020603050405020304" pitchFamily="18" charset="0"/>
                <a:cs typeface="Times New Roman" panose="02020603050405020304" pitchFamily="18" charset="0"/>
              </a:rPr>
              <a:t> such as SHAP and LIME. These methods generate understandable explanations and identify the contribution of important medical features. Finally, the framework is evaluated using performance measures including prediction accuracy, interpretability, clinician trust, and scalability.</a:t>
            </a:r>
          </a:p>
          <a:p>
            <a:pPr marL="914400" marR="0" lvl="0" indent="-317500" algn="l" rtl="0">
              <a:spcBef>
                <a:spcPts val="0"/>
              </a:spcBef>
              <a:spcAft>
                <a:spcPts val="0"/>
              </a:spcAft>
              <a:buClr>
                <a:schemeClr val="dk1"/>
              </a:buClr>
              <a:buSzPts val="1200"/>
              <a:buFont typeface="Times New Roman"/>
              <a:buChar char="–"/>
            </a:pPr>
            <a:endParaRPr sz="12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dirty="0">
                <a:solidFill>
                  <a:schemeClr val="dk1"/>
                </a:solidFill>
                <a:latin typeface="Times New Roman"/>
                <a:ea typeface="Times New Roman"/>
                <a:cs typeface="Times New Roman"/>
                <a:sym typeface="Times New Roman"/>
              </a:rPr>
              <a:t>Tools and Technologies </a:t>
            </a:r>
            <a:endParaRPr dirty="0"/>
          </a:p>
        </p:txBody>
      </p:sp>
      <p:sp>
        <p:nvSpPr>
          <p:cNvPr id="132" name="Google Shape;132;p21"/>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8</a:t>
            </a:fld>
            <a:endParaRPr sz="1200" b="1" i="0" u="none" strike="noStrike" cap="none">
              <a:solidFill>
                <a:srgbClr val="000000"/>
              </a:solidFill>
              <a:latin typeface="Calibri"/>
              <a:ea typeface="Calibri"/>
              <a:cs typeface="Calibri"/>
              <a:sym typeface="Calibri"/>
            </a:endParaRPr>
          </a:p>
        </p:txBody>
      </p:sp>
      <p:sp>
        <p:nvSpPr>
          <p:cNvPr id="133" name="Google Shape;133;p21"/>
          <p:cNvSpPr txBox="1"/>
          <p:nvPr/>
        </p:nvSpPr>
        <p:spPr>
          <a:xfrm>
            <a:off x="232833" y="1027819"/>
            <a:ext cx="8838720" cy="5200000"/>
          </a:xfrm>
          <a:prstGeom prst="rect">
            <a:avLst/>
          </a:prstGeom>
          <a:noFill/>
          <a:ln>
            <a:noFill/>
          </a:ln>
        </p:spPr>
        <p:txBody>
          <a:bodyPr spcFirstLastPara="1" wrap="square" lIns="91425" tIns="45700" rIns="91425" bIns="45700" anchor="t" anchorCtr="0">
            <a:noAutofit/>
          </a:bodyPr>
          <a:lstStyle/>
          <a:p>
            <a:pPr>
              <a:lnSpc>
                <a:spcPct val="150000"/>
              </a:lnSpc>
            </a:pPr>
            <a:r>
              <a:rPr lang="en-IN" dirty="0">
                <a:latin typeface="Times New Roman" panose="02020603050405020304" pitchFamily="18" charset="0"/>
                <a:cs typeface="Times New Roman" panose="02020603050405020304" pitchFamily="18" charset="0"/>
              </a:rPr>
              <a:t>The proposed framework was developed using various programming tools, machine learning libraries, and visualization technologies to support model development and analysis.</a:t>
            </a:r>
          </a:p>
          <a:p>
            <a:pPr>
              <a:lnSpc>
                <a:spcPct val="150000"/>
              </a:lnSpc>
            </a:pPr>
            <a:r>
              <a:rPr lang="en-IN" b="1" dirty="0">
                <a:latin typeface="Times New Roman" panose="02020603050405020304" pitchFamily="18" charset="0"/>
                <a:cs typeface="Times New Roman" panose="02020603050405020304" pitchFamily="18" charset="0"/>
              </a:rPr>
              <a:t>Programming and Development Tools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Python – Primary programming language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 Model experimentation and testing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VS Code – Coding and debugging environment</a:t>
            </a:r>
          </a:p>
          <a:p>
            <a:pPr>
              <a:lnSpc>
                <a:spcPct val="150000"/>
              </a:lnSpc>
            </a:pPr>
            <a:r>
              <a:rPr lang="en-IN" b="1" dirty="0">
                <a:latin typeface="Times New Roman" panose="02020603050405020304" pitchFamily="18" charset="0"/>
                <a:cs typeface="Times New Roman" panose="02020603050405020304" pitchFamily="18" charset="0"/>
              </a:rPr>
              <a:t>Machine Learning and AI Technologies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Scikit-learn – Machine learning implementation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TensorFlow &amp; </a:t>
            </a:r>
            <a:r>
              <a:rPr lang="en-IN"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 Deep learning and CNN development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SHAP &amp; LIME – Explainability generation</a:t>
            </a:r>
          </a:p>
          <a:p>
            <a:pPr>
              <a:lnSpc>
                <a:spcPct val="150000"/>
              </a:lnSpc>
            </a:pPr>
            <a:r>
              <a:rPr lang="en-IN" b="1" dirty="0">
                <a:latin typeface="Times New Roman" panose="02020603050405020304" pitchFamily="18" charset="0"/>
                <a:cs typeface="Times New Roman" panose="02020603050405020304" pitchFamily="18" charset="0"/>
              </a:rPr>
              <a:t>Data Processing and Visualization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Pandas &amp; NumPy – Data handling and computation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OpenCV – Medical image preprocessing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Matplotlib – Graph and performance visualization</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These technologies collectively supported the development of an efficient, scalable, and transparent healthcare AI system.</a:t>
            </a:r>
          </a:p>
          <a:p>
            <a:pPr marL="457200" lvl="0" indent="-317500" algn="l" rtl="0">
              <a:lnSpc>
                <a:spcPct val="115000"/>
              </a:lnSpc>
              <a:spcBef>
                <a:spcPts val="0"/>
              </a:spcBef>
              <a:spcAft>
                <a:spcPts val="0"/>
              </a:spcAft>
              <a:buClr>
                <a:schemeClr val="dk1"/>
              </a:buClr>
              <a:buSzPts val="1400"/>
              <a:buFont typeface="Times New Roman"/>
              <a:buChar char="●"/>
            </a:pPr>
            <a:endParaRPr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dirty="0">
                <a:solidFill>
                  <a:schemeClr val="dk1"/>
                </a:solidFill>
                <a:latin typeface="Times New Roman"/>
                <a:cs typeface="Times New Roman"/>
                <a:sym typeface="Times New Roman"/>
              </a:rPr>
              <a:t>Implementation</a:t>
            </a:r>
          </a:p>
        </p:txBody>
      </p:sp>
      <p:sp>
        <p:nvSpPr>
          <p:cNvPr id="139" name="Google Shape;139;p2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9</a:t>
            </a:fld>
            <a:endParaRPr sz="1200" b="1" i="0" u="none" strike="noStrike" cap="none">
              <a:solidFill>
                <a:srgbClr val="000000"/>
              </a:solidFill>
              <a:latin typeface="Calibri"/>
              <a:ea typeface="Calibri"/>
              <a:cs typeface="Calibri"/>
              <a:sym typeface="Calibri"/>
            </a:endParaRPr>
          </a:p>
        </p:txBody>
      </p:sp>
      <p:sp>
        <p:nvSpPr>
          <p:cNvPr id="140" name="Google Shape;140;p22"/>
          <p:cNvSpPr txBox="1"/>
          <p:nvPr/>
        </p:nvSpPr>
        <p:spPr>
          <a:xfrm>
            <a:off x="164008" y="900000"/>
            <a:ext cx="8838720" cy="5200000"/>
          </a:xfrm>
          <a:prstGeom prst="rect">
            <a:avLst/>
          </a:prstGeom>
          <a:noFill/>
          <a:ln>
            <a:noFill/>
          </a:ln>
        </p:spPr>
        <p:txBody>
          <a:bodyPr spcFirstLastPara="1" wrap="square" lIns="91425" tIns="45700" rIns="91425" bIns="45700" anchor="t" anchorCtr="0">
            <a:noAutofit/>
          </a:bodyPr>
          <a:lstStyle/>
          <a:p>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implementation of the proposed XAI framework followed a </a:t>
            </a:r>
            <a:r>
              <a:rPr lang="en-US" b="1" dirty="0">
                <a:latin typeface="Times New Roman" panose="02020603050405020304" pitchFamily="18" charset="0"/>
                <a:cs typeface="Times New Roman" panose="02020603050405020304" pitchFamily="18" charset="0"/>
              </a:rPr>
              <a:t>multi-layer architecture</a:t>
            </a:r>
            <a:r>
              <a:rPr lang="en-US" dirty="0">
                <a:latin typeface="Times New Roman" panose="02020603050405020304" pitchFamily="18" charset="0"/>
                <a:cs typeface="Times New Roman" panose="02020603050405020304" pitchFamily="18" charset="0"/>
              </a:rPr>
              <a:t> designed to simulate real-world healthcare environments.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first stage involved </a:t>
            </a:r>
            <a:r>
              <a:rPr lang="en-US" b="1" dirty="0">
                <a:latin typeface="Times New Roman" panose="02020603050405020304" pitchFamily="18" charset="0"/>
                <a:cs typeface="Times New Roman" panose="02020603050405020304" pitchFamily="18" charset="0"/>
              </a:rPr>
              <a:t>data acquisition</a:t>
            </a:r>
            <a:r>
              <a:rPr lang="en-US" dirty="0">
                <a:latin typeface="Times New Roman" panose="02020603050405020304" pitchFamily="18" charset="0"/>
                <a:cs typeface="Times New Roman" panose="02020603050405020304" pitchFamily="18" charset="0"/>
              </a:rPr>
              <a:t>, where healthcare information including patient records, laboratory reports, and medical images was collected. The data was then preprocessed through cleaning, normalization, and feature extraction to ensure quality and consistency.</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Following preprocessing, </a:t>
            </a:r>
            <a:r>
              <a:rPr lang="en-US" b="1" dirty="0">
                <a:latin typeface="Times New Roman" panose="02020603050405020304" pitchFamily="18" charset="0"/>
                <a:cs typeface="Times New Roman" panose="02020603050405020304" pitchFamily="18" charset="0"/>
              </a:rPr>
              <a:t>machine learning and deep learning models</a:t>
            </a:r>
            <a:r>
              <a:rPr lang="en-US" dirty="0">
                <a:latin typeface="Times New Roman" panose="02020603050405020304" pitchFamily="18" charset="0"/>
                <a:cs typeface="Times New Roman" panose="02020603050405020304" pitchFamily="18" charset="0"/>
              </a:rPr>
              <a:t> were trained for disease prediction. Structured healthcare data was processed using Random Forest and Decision Tree algorithms, while medical imaging data was analyzed using CNN models.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most significant component of implementation was the </a:t>
            </a:r>
            <a:r>
              <a:rPr lang="en-US" b="1" dirty="0">
                <a:latin typeface="Times New Roman" panose="02020603050405020304" pitchFamily="18" charset="0"/>
                <a:cs typeface="Times New Roman" panose="02020603050405020304" pitchFamily="18" charset="0"/>
              </a:rPr>
              <a:t>Explainability Layer</a:t>
            </a:r>
            <a:r>
              <a:rPr lang="en-US" dirty="0">
                <a:latin typeface="Times New Roman" panose="02020603050405020304" pitchFamily="18" charset="0"/>
                <a:cs typeface="Times New Roman" panose="02020603050405020304" pitchFamily="18" charset="0"/>
              </a:rPr>
              <a:t>, where SHAP and LIME were integrated to explain predictions and highlight influential medical features. Security, scalability, and cloud support were also considered to ensure practical deployment and reliable healthcare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dirty="0">
                <a:solidFill>
                  <a:schemeClr val="dk1"/>
                </a:solidFill>
                <a:latin typeface="Times New Roman"/>
                <a:ea typeface="Times New Roman"/>
                <a:cs typeface="Times New Roman"/>
                <a:sym typeface="Times New Roman"/>
              </a:rPr>
              <a:t>   Results and Discussions</a:t>
            </a:r>
            <a:endParaRPr dirty="0"/>
          </a:p>
        </p:txBody>
      </p:sp>
      <p:sp>
        <p:nvSpPr>
          <p:cNvPr id="146" name="Google Shape;146;p23"/>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10</a:t>
            </a:fld>
            <a:endParaRPr sz="1200" b="1" i="0" u="none" strike="noStrike" cap="none">
              <a:solidFill>
                <a:srgbClr val="000000"/>
              </a:solidFill>
              <a:latin typeface="Calibri"/>
              <a:ea typeface="Calibri"/>
              <a:cs typeface="Calibri"/>
              <a:sym typeface="Calibri"/>
            </a:endParaRPr>
          </a:p>
        </p:txBody>
      </p:sp>
      <p:sp>
        <p:nvSpPr>
          <p:cNvPr id="147" name="Google Shape;147;p23"/>
          <p:cNvSpPr txBox="1"/>
          <p:nvPr/>
        </p:nvSpPr>
        <p:spPr>
          <a:xfrm>
            <a:off x="152640" y="978658"/>
            <a:ext cx="8838720" cy="5200000"/>
          </a:xfrm>
          <a:prstGeom prst="rect">
            <a:avLst/>
          </a:prstGeom>
          <a:noFill/>
          <a:ln>
            <a:noFill/>
          </a:ln>
        </p:spPr>
        <p:txBody>
          <a:bodyPr spcFirstLastPara="1" wrap="square" lIns="91425" tIns="45700" rIns="91425" bIns="45700" anchor="t" anchorCtr="0">
            <a:noAutofit/>
          </a:bodyPr>
          <a:lstStyle/>
          <a:p>
            <a:pPr>
              <a:lnSpc>
                <a:spcPct val="150000"/>
              </a:lnSpc>
            </a:pPr>
            <a:r>
              <a:rPr lang="en-US" dirty="0">
                <a:latin typeface="Times New Roman" panose="02020603050405020304" pitchFamily="18" charset="0"/>
                <a:cs typeface="Times New Roman" panose="02020603050405020304" pitchFamily="18" charset="0"/>
              </a:rPr>
              <a:t>The experimental findings demonstrated that explainability can be integrated into healthcare AI systems without causing a significant decline in predictive performance.</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traditional black-box AI model achieved approximately 89% prediction accuracy</a:t>
            </a:r>
            <a:r>
              <a:rPr lang="en-US" dirty="0">
                <a:latin typeface="Times New Roman" panose="02020603050405020304" pitchFamily="18" charset="0"/>
                <a:cs typeface="Times New Roman" panose="02020603050405020304" pitchFamily="18" charset="0"/>
              </a:rPr>
              <a:t>, whereas the </a:t>
            </a:r>
            <a:r>
              <a:rPr lang="en-US" b="1" dirty="0">
                <a:latin typeface="Times New Roman" panose="02020603050405020304" pitchFamily="18" charset="0"/>
                <a:cs typeface="Times New Roman" panose="02020603050405020304" pitchFamily="18" charset="0"/>
              </a:rPr>
              <a:t>Explainable AI model achieved nearly 87% accuracy</a:t>
            </a:r>
            <a:r>
              <a:rPr lang="en-US" dirty="0">
                <a:latin typeface="Times New Roman" panose="02020603050405020304" pitchFamily="18" charset="0"/>
                <a:cs typeface="Times New Roman" panose="02020603050405020304" pitchFamily="18" charset="0"/>
              </a:rPr>
              <a:t>. Although a slight decrease in accuracy was observed, the framework delivered substantial gains in transparency and interpretability.</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use of SHAP and LIME significantly improved clinician understanding of model decisions. Interpretability increased by nearly </a:t>
            </a:r>
            <a:r>
              <a:rPr lang="en-US" b="1" dirty="0">
                <a:latin typeface="Times New Roman" panose="02020603050405020304" pitchFamily="18" charset="0"/>
                <a:cs typeface="Times New Roman" panose="02020603050405020304" pitchFamily="18" charset="0"/>
              </a:rPr>
              <a:t>45%</a:t>
            </a:r>
            <a:r>
              <a:rPr lang="en-US" dirty="0">
                <a:latin typeface="Times New Roman" panose="02020603050405020304" pitchFamily="18" charset="0"/>
                <a:cs typeface="Times New Roman" panose="02020603050405020304" pitchFamily="18" charset="0"/>
              </a:rPr>
              <a:t>, enabling healthcare professionals to understand the reasoning behind diagnostic predictions.</a:t>
            </a:r>
          </a:p>
          <a:p>
            <a:pPr>
              <a:lnSpc>
                <a:spcPct val="150000"/>
              </a:lnSpc>
            </a:pPr>
            <a:r>
              <a:rPr lang="en-US" dirty="0">
                <a:latin typeface="Times New Roman" panose="02020603050405020304" pitchFamily="18" charset="0"/>
                <a:cs typeface="Times New Roman" panose="02020603050405020304" pitchFamily="18" charset="0"/>
              </a:rPr>
              <a:t>Another major improvement was observed in </a:t>
            </a:r>
            <a:r>
              <a:rPr lang="en-US" b="1" dirty="0">
                <a:latin typeface="Times New Roman" panose="02020603050405020304" pitchFamily="18" charset="0"/>
                <a:cs typeface="Times New Roman" panose="02020603050405020304" pitchFamily="18" charset="0"/>
              </a:rPr>
              <a:t>decision validation time</a:t>
            </a:r>
            <a:r>
              <a:rPr lang="en-US" dirty="0">
                <a:latin typeface="Times New Roman" panose="02020603050405020304" pitchFamily="18" charset="0"/>
                <a:cs typeface="Times New Roman" panose="02020603050405020304" pitchFamily="18" charset="0"/>
              </a:rPr>
              <a:t>, which reduced by approximately </a:t>
            </a:r>
            <a:r>
              <a:rPr lang="en-US" b="1" dirty="0">
                <a:latin typeface="Times New Roman" panose="02020603050405020304" pitchFamily="18" charset="0"/>
                <a:cs typeface="Times New Roman" panose="02020603050405020304" pitchFamily="18" charset="0"/>
              </a:rPr>
              <a:t>30%</a:t>
            </a:r>
            <a:r>
              <a:rPr lang="en-US" dirty="0">
                <a:latin typeface="Times New Roman" panose="02020603050405020304" pitchFamily="18" charset="0"/>
                <a:cs typeface="Times New Roman" panose="02020603050405020304" pitchFamily="18" charset="0"/>
              </a:rPr>
              <a:t> due to the availability of prediction explanations. Clinician trust also increased by nearly </a:t>
            </a:r>
            <a:r>
              <a:rPr lang="en-US" b="1" dirty="0">
                <a:latin typeface="Times New Roman" panose="02020603050405020304" pitchFamily="18" charset="0"/>
                <a:cs typeface="Times New Roman" panose="02020603050405020304" pitchFamily="18" charset="0"/>
              </a:rPr>
              <a:t>40%</a:t>
            </a:r>
            <a:r>
              <a:rPr lang="en-US" dirty="0">
                <a:latin typeface="Times New Roman" panose="02020603050405020304" pitchFamily="18" charset="0"/>
                <a:cs typeface="Times New Roman" panose="02020603050405020304" pitchFamily="18" charset="0"/>
              </a:rPr>
              <a:t>, highlighting the practical value of explainability in medical diagnosis.</a:t>
            </a:r>
          </a:p>
          <a:p>
            <a:pPr marL="457200" lvl="0" indent="-317500" algn="l" rtl="0">
              <a:lnSpc>
                <a:spcPct val="115000"/>
              </a:lnSpc>
              <a:spcBef>
                <a:spcPts val="0"/>
              </a:spcBef>
              <a:spcAft>
                <a:spcPts val="0"/>
              </a:spcAft>
              <a:buClr>
                <a:schemeClr val="dk1"/>
              </a:buClr>
              <a:buSzPts val="1400"/>
              <a:buFont typeface="Times New Roman"/>
              <a:buChar char="●"/>
            </a:pPr>
            <a:endParaRPr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dirty="0">
                <a:solidFill>
                  <a:schemeClr val="dk1"/>
                </a:solidFill>
                <a:latin typeface="Times New Roman"/>
                <a:ea typeface="Times New Roman"/>
                <a:cs typeface="Times New Roman"/>
                <a:sym typeface="Times New Roman"/>
              </a:rPr>
              <a:t>Performance Analysis</a:t>
            </a:r>
            <a:endParaRPr dirty="0"/>
          </a:p>
        </p:txBody>
      </p:sp>
      <p:sp>
        <p:nvSpPr>
          <p:cNvPr id="153" name="Google Shape;153;p24"/>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11</a:t>
            </a:fld>
            <a:endParaRPr sz="1200" b="1" i="0" u="none" strike="noStrike" cap="none">
              <a:solidFill>
                <a:srgbClr val="000000"/>
              </a:solidFill>
              <a:latin typeface="Calibri"/>
              <a:ea typeface="Calibri"/>
              <a:cs typeface="Calibri"/>
              <a:sym typeface="Calibri"/>
            </a:endParaRPr>
          </a:p>
        </p:txBody>
      </p:sp>
      <p:sp>
        <p:nvSpPr>
          <p:cNvPr id="154" name="Google Shape;154;p24"/>
          <p:cNvSpPr txBox="1"/>
          <p:nvPr/>
        </p:nvSpPr>
        <p:spPr>
          <a:xfrm>
            <a:off x="164000" y="997125"/>
            <a:ext cx="8647800" cy="4257600"/>
          </a:xfrm>
          <a:prstGeom prst="rect">
            <a:avLst/>
          </a:prstGeom>
          <a:noFill/>
          <a:ln>
            <a:noFill/>
          </a:ln>
        </p:spPr>
        <p:txBody>
          <a:bodyPr spcFirstLastPara="1" wrap="square" lIns="91425" tIns="45700" rIns="91425" bIns="45700" anchor="t" anchorCtr="0">
            <a:noAutofit/>
          </a:bodyPr>
          <a:lstStyle/>
          <a:p>
            <a:pPr>
              <a:lnSpc>
                <a:spcPct val="150000"/>
              </a:lnSpc>
            </a:pPr>
            <a:r>
              <a:rPr lang="en-US" dirty="0">
                <a:latin typeface="Times New Roman" panose="02020603050405020304" pitchFamily="18" charset="0"/>
                <a:cs typeface="Times New Roman" panose="02020603050405020304" pitchFamily="18" charset="0"/>
              </a:rPr>
              <a:t>The proposed Explainable AI framework demonstrated stable and reliable performance across multiple evaluation criteria.</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framework maintained strong predictive capability while significantly improving transparency and clinician confidence. Although explainability computations introduced slight processing overhead, the overall efficiency remained suitable for healthcare applications.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Scalability analysis further confirmed that the system performed consistently even under increasing workload conditions and larger datasets. The framework maintained operational stability without substantial loss of efficiency, indicating suitability for hospital-scale environments.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results suggest that explainability improves not only model understanding but also practical adoption of AI systems in healthcare.</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dirty="0">
                <a:solidFill>
                  <a:schemeClr val="dk1"/>
                </a:solidFill>
                <a:latin typeface="Times New Roman"/>
                <a:ea typeface="Times New Roman"/>
                <a:cs typeface="Times New Roman"/>
                <a:sym typeface="Times New Roman"/>
              </a:rPr>
              <a:t>Conclusion &amp; Future Scope </a:t>
            </a:r>
            <a:endParaRPr dirty="0"/>
          </a:p>
        </p:txBody>
      </p:sp>
      <p:sp>
        <p:nvSpPr>
          <p:cNvPr id="167" name="Google Shape;167;p26"/>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12</a:t>
            </a:fld>
            <a:endParaRPr sz="1200" b="1" i="0" u="none" strike="noStrike" cap="none">
              <a:solidFill>
                <a:srgbClr val="000000"/>
              </a:solidFill>
              <a:latin typeface="Calibri"/>
              <a:ea typeface="Calibri"/>
              <a:cs typeface="Calibri"/>
              <a:sym typeface="Calibri"/>
            </a:endParaRPr>
          </a:p>
        </p:txBody>
      </p:sp>
      <p:sp>
        <p:nvSpPr>
          <p:cNvPr id="168" name="Google Shape;168;p26"/>
          <p:cNvSpPr txBox="1"/>
          <p:nvPr/>
        </p:nvSpPr>
        <p:spPr>
          <a:xfrm>
            <a:off x="164008" y="900000"/>
            <a:ext cx="8838720" cy="5200000"/>
          </a:xfrm>
          <a:prstGeom prst="rect">
            <a:avLst/>
          </a:prstGeom>
          <a:noFill/>
          <a:ln>
            <a:noFill/>
          </a:ln>
        </p:spPr>
        <p:txBody>
          <a:bodyPr spcFirstLastPara="1" wrap="square" lIns="91425" tIns="45700" rIns="91425" bIns="45700" anchor="t" anchorCtr="0">
            <a:noAutofit/>
          </a:bodyPr>
          <a:lstStyle/>
          <a:p>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proposed </a:t>
            </a:r>
            <a:r>
              <a:rPr lang="en-US" b="1" dirty="0">
                <a:latin typeface="Times New Roman" panose="02020603050405020304" pitchFamily="18" charset="0"/>
                <a:cs typeface="Times New Roman" panose="02020603050405020304" pitchFamily="18" charset="0"/>
              </a:rPr>
              <a:t>Explainable Artificial Intelligence (XAI) framework</a:t>
            </a:r>
            <a:r>
              <a:rPr lang="en-US" dirty="0">
                <a:latin typeface="Times New Roman" panose="02020603050405020304" pitchFamily="18" charset="0"/>
                <a:cs typeface="Times New Roman" panose="02020603050405020304" pitchFamily="18" charset="0"/>
              </a:rPr>
              <a:t> successfully addressed the transparency limitations of traditional healthcare AI systems. By integrating </a:t>
            </a:r>
            <a:r>
              <a:rPr lang="en-US" b="1" dirty="0">
                <a:latin typeface="Times New Roman" panose="02020603050405020304" pitchFamily="18" charset="0"/>
                <a:cs typeface="Times New Roman" panose="02020603050405020304" pitchFamily="18" charset="0"/>
              </a:rPr>
              <a:t>SHAP and LIME</a:t>
            </a:r>
            <a:r>
              <a:rPr lang="en-US" dirty="0">
                <a:latin typeface="Times New Roman" panose="02020603050405020304" pitchFamily="18" charset="0"/>
                <a:cs typeface="Times New Roman" panose="02020603050405020304" pitchFamily="18" charset="0"/>
              </a:rPr>
              <a:t> with machine learning and deep learning models, the framework generated accurate and interpretable predictions. The results showed improved </a:t>
            </a:r>
            <a:r>
              <a:rPr lang="en-US" b="1" dirty="0">
                <a:latin typeface="Times New Roman" panose="02020603050405020304" pitchFamily="18" charset="0"/>
                <a:cs typeface="Times New Roman" panose="02020603050405020304" pitchFamily="18" charset="0"/>
              </a:rPr>
              <a:t>interpretability, clinician trust, and decision validation</a:t>
            </a:r>
            <a:r>
              <a:rPr lang="en-US" dirty="0">
                <a:latin typeface="Times New Roman" panose="02020603050405020304" pitchFamily="18" charset="0"/>
                <a:cs typeface="Times New Roman" panose="02020603050405020304" pitchFamily="18" charset="0"/>
              </a:rPr>
              <a:t> while maintaining reliable diagnostic performance. Overall, the study highlights the importance of XAI in enabling </a:t>
            </a:r>
            <a:r>
              <a:rPr lang="en-US" b="1" dirty="0">
                <a:latin typeface="Times New Roman" panose="02020603050405020304" pitchFamily="18" charset="0"/>
                <a:cs typeface="Times New Roman" panose="02020603050405020304" pitchFamily="18" charset="0"/>
              </a:rPr>
              <a:t>trustworthy and efficient healthcare diagnosis</a:t>
            </a:r>
            <a:r>
              <a:rPr lang="en-US" dirty="0">
                <a:latin typeface="Times New Roman" panose="02020603050405020304" pitchFamily="18" charset="0"/>
                <a:cs typeface="Times New Roman" panose="02020603050405020304" pitchFamily="18" charset="0"/>
              </a:rPr>
              <a:t>.</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Future Scope</a:t>
            </a:r>
          </a:p>
          <a:p>
            <a:pPr>
              <a:lnSpc>
                <a:spcPct val="150000"/>
              </a:lnSpc>
            </a:pPr>
            <a:r>
              <a:rPr lang="en-US" dirty="0">
                <a:latin typeface="Times New Roman" panose="02020603050405020304" pitchFamily="18" charset="0"/>
                <a:cs typeface="Times New Roman" panose="02020603050405020304" pitchFamily="18" charset="0"/>
              </a:rPr>
              <a:t>The proposed framework offers several opportunities for future improvement. Future work may focus on </a:t>
            </a:r>
            <a:r>
              <a:rPr lang="en-US" b="1" dirty="0">
                <a:latin typeface="Times New Roman" panose="02020603050405020304" pitchFamily="18" charset="0"/>
                <a:cs typeface="Times New Roman" panose="02020603050405020304" pitchFamily="18" charset="0"/>
              </a:rPr>
              <a:t>real-time explainability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federated learning for data privacy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cloud-based healthcare deployment</a:t>
            </a:r>
            <a:r>
              <a:rPr lang="en-US" dirty="0">
                <a:latin typeface="Times New Roman" panose="02020603050405020304" pitchFamily="18" charset="0"/>
                <a:cs typeface="Times New Roman" panose="02020603050405020304" pitchFamily="18" charset="0"/>
              </a:rPr>
              <a:t>. Integration with </a:t>
            </a:r>
            <a:r>
              <a:rPr lang="en-US" b="1" dirty="0">
                <a:latin typeface="Times New Roman" panose="02020603050405020304" pitchFamily="18" charset="0"/>
                <a:cs typeface="Times New Roman" panose="02020603050405020304" pitchFamily="18" charset="0"/>
              </a:rPr>
              <a:t>multimodal healthcare data</a:t>
            </a:r>
            <a:r>
              <a:rPr lang="en-US" dirty="0">
                <a:latin typeface="Times New Roman" panose="02020603050405020304" pitchFamily="18" charset="0"/>
                <a:cs typeface="Times New Roman" panose="02020603050405020304" pitchFamily="18" charset="0"/>
              </a:rPr>
              <a:t> such as wearable devices and genomic information can further improve diagnostic accuracy and personalized healthcare solutions. These advancements can strengthen the practical impact of Explainable AI in modern healthcare systems.                                       </a:t>
            </a:r>
          </a:p>
          <a:p>
            <a:pPr>
              <a:lnSpc>
                <a:spcPct val="150000"/>
              </a:lnSpc>
            </a:pP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p:nvPr/>
        </p:nvSpPr>
        <p:spPr>
          <a:xfrm>
            <a:off x="1297577" y="2821578"/>
            <a:ext cx="6705600" cy="1410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b="0" i="0" u="none" strike="noStrike" cap="none">
                <a:solidFill>
                  <a:schemeClr val="dk1"/>
                </a:solidFill>
                <a:latin typeface="Times New Roman"/>
                <a:ea typeface="Times New Roman"/>
                <a:cs typeface="Times New Roman"/>
                <a:sym typeface="Times New Roman"/>
              </a:rPr>
              <a:t>Thank You</a:t>
            </a:r>
            <a:endParaRPr sz="5400" b="0" i="0" u="none" strike="noStrike" cap="none">
              <a:solidFill>
                <a:srgbClr val="000000"/>
              </a:solidFill>
              <a:latin typeface="Times New Roman"/>
              <a:ea typeface="Times New Roman"/>
              <a:cs typeface="Times New Roman"/>
              <a:sym typeface="Times New Roman"/>
            </a:endParaRPr>
          </a:p>
        </p:txBody>
      </p:sp>
      <p:sp>
        <p:nvSpPr>
          <p:cNvPr id="181" name="Google Shape;181;p28"/>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13</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1675</Words>
  <Application>Microsoft Office PowerPoint</Application>
  <PresentationFormat>On-screen Show (4:3)</PresentationFormat>
  <Paragraphs>133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Abhishek Bansal</cp:lastModifiedBy>
  <cp:revision>3</cp:revision>
  <dcterms:modified xsi:type="dcterms:W3CDTF">2026-05-18T06:29:00Z</dcterms:modified>
</cp:coreProperties>
</file>